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PROJET SISE-OPSIE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B9BD5"/>
                </a:solidFill>
                <a:latin typeface="Calibri"/>
              </a:defRPr>
            </a:pPr>
            <a:r>
              <a:t>Challenge Securite — Firewall, Journalisation &amp; Detection d'intrusion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Equipe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4F0"/>
                </a:solidFill>
                <a:latin typeface="Calibri"/>
              </a:defRPr>
            </a:pPr>
            <a:r>
              <a:t>OPSIE : Martin BETARD  |  Salah-Eddine SLAOUI</a:t>
            </a:r>
            <a:br/>
            <a:r>
              <a:t>SISE  : Olivier BOROT  |  Romain BUONO  |  Constantin REY-COQUAIS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Universite Lyon 2 — Mars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5B6"/>
                </a:solidFill>
                <a:latin typeface="Calibri"/>
              </a:defRPr>
            </a:pPr>
            <a:r>
              <a:t>Equipe 8 — OPSIE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510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E75B6"/>
                </a:solidFill>
                <a:latin typeface="Calibri"/>
              </a:defRPr>
            </a:pPr>
            <a:r>
              <a:t>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1924"/>
            <a:ext cx="9144000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dirty="0">
                <a:solidFill>
                  <a:srgbClr val="333333"/>
                </a:solidFill>
                <a:latin typeface="Calibri"/>
              </a:rPr>
              <a:t>1.  </a:t>
            </a:r>
            <a:r>
              <a:rPr sz="2200" dirty="0" err="1">
                <a:solidFill>
                  <a:srgbClr val="333333"/>
                </a:solidFill>
                <a:latin typeface="Calibri"/>
              </a:rPr>
              <a:t>Contexte</a:t>
            </a:r>
            <a:r>
              <a:rPr sz="2200" dirty="0">
                <a:solidFill>
                  <a:srgbClr val="333333"/>
                </a:solidFill>
                <a:latin typeface="Calibri"/>
              </a:rPr>
              <a:t> &amp; </a:t>
            </a:r>
            <a:r>
              <a:rPr sz="2200" dirty="0" err="1">
                <a:solidFill>
                  <a:srgbClr val="333333"/>
                </a:solidFill>
                <a:latin typeface="Calibri"/>
              </a:rPr>
              <a:t>Objectifs</a:t>
            </a:r>
            <a:r>
              <a:rPr sz="2200" dirty="0">
                <a:solidFill>
                  <a:srgbClr val="333333"/>
                </a:solidFill>
                <a:latin typeface="Calibri"/>
              </a:rPr>
              <a:t> du </a:t>
            </a:r>
            <a:r>
              <a:rPr sz="2200" dirty="0" err="1">
                <a:solidFill>
                  <a:srgbClr val="333333"/>
                </a:solidFill>
                <a:latin typeface="Calibri"/>
              </a:rPr>
              <a:t>projet</a:t>
            </a:r>
            <a:endParaRPr sz="220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sz="2200" dirty="0">
                <a:solidFill>
                  <a:srgbClr val="333333"/>
                </a:solidFill>
                <a:latin typeface="Calibri"/>
              </a:rPr>
              <a:t>2.  </a:t>
            </a:r>
            <a:r>
              <a:rPr sz="2200" dirty="0" err="1">
                <a:solidFill>
                  <a:srgbClr val="333333"/>
                </a:solidFill>
                <a:latin typeface="Calibri"/>
              </a:rPr>
              <a:t>Analyse</a:t>
            </a:r>
            <a:r>
              <a:rPr sz="2200" dirty="0">
                <a:solidFill>
                  <a:srgbClr val="333333"/>
                </a:solidFill>
                <a:latin typeface="Calibri"/>
              </a:rPr>
              <a:t> des logs firewall cloud</a:t>
            </a:r>
          </a:p>
          <a:p>
            <a:pPr>
              <a:spcAft>
                <a:spcPts val="1400"/>
              </a:spcAft>
            </a:pPr>
            <a:r>
              <a:rPr sz="2200" dirty="0">
                <a:solidFill>
                  <a:srgbClr val="333333"/>
                </a:solidFill>
                <a:latin typeface="Calibri"/>
              </a:rPr>
              <a:t>3.  Architecture Docker</a:t>
            </a:r>
          </a:p>
          <a:p>
            <a:pPr>
              <a:spcAft>
                <a:spcPts val="1400"/>
              </a:spcAft>
            </a:pPr>
            <a:r>
              <a:rPr sz="2200" dirty="0">
                <a:solidFill>
                  <a:srgbClr val="333333"/>
                </a:solidFill>
                <a:latin typeface="Calibri"/>
              </a:rPr>
              <a:t>4.  Configuration Firewall</a:t>
            </a:r>
            <a:endParaRPr lang="fr-FR" sz="220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lang="fr-FR" sz="2200" dirty="0">
                <a:solidFill>
                  <a:srgbClr val="333333"/>
                </a:solidFill>
                <a:latin typeface="Calibri"/>
              </a:rPr>
              <a:t>5.  Chaine de journalisation</a:t>
            </a:r>
          </a:p>
          <a:p>
            <a:pPr>
              <a:spcAft>
                <a:spcPts val="1400"/>
              </a:spcAft>
            </a:pPr>
            <a:r>
              <a:rPr sz="2200" dirty="0">
                <a:solidFill>
                  <a:srgbClr val="333333"/>
                </a:solidFill>
                <a:latin typeface="Calibri"/>
              </a:rPr>
              <a:t>6.  Migration des r</a:t>
            </a:r>
            <a:r>
              <a:rPr lang="fr-FR" sz="2200" dirty="0">
                <a:solidFill>
                  <a:srgbClr val="333333"/>
                </a:solidFill>
                <a:latin typeface="Calibri"/>
              </a:rPr>
              <a:t>è</a:t>
            </a:r>
            <a:r>
              <a:rPr sz="2200" dirty="0" err="1">
                <a:solidFill>
                  <a:srgbClr val="333333"/>
                </a:solidFill>
                <a:latin typeface="Calibri"/>
              </a:rPr>
              <a:t>gles</a:t>
            </a:r>
            <a:endParaRPr sz="220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sz="2200" dirty="0">
                <a:solidFill>
                  <a:srgbClr val="333333"/>
                </a:solidFill>
                <a:latin typeface="Calibri"/>
              </a:rPr>
              <a:t>7.  </a:t>
            </a:r>
            <a:r>
              <a:rPr sz="2200" dirty="0" err="1">
                <a:solidFill>
                  <a:srgbClr val="333333"/>
                </a:solidFill>
                <a:latin typeface="Calibri"/>
              </a:rPr>
              <a:t>Trafic</a:t>
            </a:r>
            <a:r>
              <a:rPr sz="2200" dirty="0">
                <a:solidFill>
                  <a:srgbClr val="333333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333333"/>
                </a:solidFill>
                <a:latin typeface="Calibri"/>
              </a:rPr>
              <a:t>licite</a:t>
            </a:r>
            <a:endParaRPr lang="fr-FR" sz="220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lang="fr-FR" sz="2200" dirty="0">
                <a:solidFill>
                  <a:srgbClr val="333333"/>
                </a:solidFill>
                <a:latin typeface="Calibri"/>
              </a:rPr>
              <a:t>8.  Trafic illicite</a:t>
            </a:r>
          </a:p>
          <a:p>
            <a:pPr>
              <a:spcAft>
                <a:spcPts val="1400"/>
              </a:spcAft>
            </a:pPr>
            <a:r>
              <a:rPr sz="2200" dirty="0">
                <a:solidFill>
                  <a:srgbClr val="333333"/>
                </a:solidFill>
                <a:latin typeface="Calibri"/>
              </a:rPr>
              <a:t>9.  R</a:t>
            </a:r>
            <a:r>
              <a:rPr lang="fr-FR" sz="2200" dirty="0">
                <a:solidFill>
                  <a:srgbClr val="333333"/>
                </a:solidFill>
                <a:latin typeface="Calibri"/>
              </a:rPr>
              <a:t>é</a:t>
            </a:r>
            <a:r>
              <a:rPr sz="2200" dirty="0" err="1">
                <a:solidFill>
                  <a:srgbClr val="333333"/>
                </a:solidFill>
                <a:latin typeface="Calibri"/>
              </a:rPr>
              <a:t>sultats</a:t>
            </a:r>
            <a:r>
              <a:rPr sz="2200" dirty="0">
                <a:solidFill>
                  <a:srgbClr val="333333"/>
                </a:solidFill>
                <a:latin typeface="Calibri"/>
              </a:rPr>
              <a:t> &amp; Logs g</a:t>
            </a:r>
            <a:r>
              <a:rPr lang="fr-FR" sz="2200" dirty="0">
                <a:solidFill>
                  <a:srgbClr val="333333"/>
                </a:solidFill>
                <a:latin typeface="Calibri"/>
              </a:rPr>
              <a:t>é</a:t>
            </a:r>
            <a:r>
              <a:rPr sz="2200" dirty="0">
                <a:solidFill>
                  <a:srgbClr val="333333"/>
                </a:solidFill>
                <a:latin typeface="Calibri"/>
              </a:rPr>
              <a:t>n</a:t>
            </a:r>
            <a:r>
              <a:rPr lang="fr-FR" sz="2200" dirty="0">
                <a:solidFill>
                  <a:srgbClr val="333333"/>
                </a:solidFill>
                <a:latin typeface="Calibri"/>
              </a:rPr>
              <a:t>é</a:t>
            </a:r>
            <a:r>
              <a:rPr sz="2200" dirty="0">
                <a:solidFill>
                  <a:srgbClr val="333333"/>
                </a:solidFill>
                <a:latin typeface="Calibri"/>
              </a:rPr>
              <a:t>res</a:t>
            </a:r>
          </a:p>
          <a:p>
            <a:pPr>
              <a:spcAft>
                <a:spcPts val="1400"/>
              </a:spcAft>
            </a:pPr>
            <a:r>
              <a:rPr sz="2200" dirty="0">
                <a:solidFill>
                  <a:srgbClr val="333333"/>
                </a:solidFill>
                <a:latin typeface="Calibri"/>
              </a:rPr>
              <a:t>10. </a:t>
            </a:r>
            <a:r>
              <a:rPr lang="fr-FR" sz="2200">
                <a:solidFill>
                  <a:srgbClr val="333333"/>
                </a:solidFill>
                <a:latin typeface="Calibri"/>
              </a:rPr>
              <a:t>Démo</a:t>
            </a:r>
            <a:endParaRPr sz="220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1. Contexte &amp;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Pourquoi ce projet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5B6"/>
                </a:solidFill>
                <a:latin typeface="Calibri"/>
              </a:defRPr>
            </a:pPr>
            <a:r>
              <a:t>Equipe 8 — OPSIE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10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E75B6"/>
                </a:solidFill>
                <a:latin typeface="Calibri"/>
              </a:defRPr>
            </a:pPr>
            <a:r>
              <a:t>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5303520" cy="475488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Calibri"/>
              </a:defRPr>
            </a:pPr>
            <a:r>
              <a:t>Contexte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Analyser des logs firewall iptables (on-premise &amp; cloud)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Migrer des regles vers un nouveau firewall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Alimenter un systeme de journalisation complet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Generer du trafic realiste : licite + illicite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Conformite ISO 27001 / ANSSI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754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Calibri"/>
              </a:defRPr>
            </a:pPr>
            <a:r>
              <a:rPr dirty="0" err="1"/>
              <a:t>Objectifs</a:t>
            </a:r>
            <a:r>
              <a:rPr lang="fr-FR" dirty="0"/>
              <a:t> 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4754880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Deployer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l'infra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Docker (5 containers)</a:t>
            </a:r>
          </a:p>
          <a:p>
            <a:pPr>
              <a:spcAft>
                <a:spcPts val="1000"/>
              </a:spcAft>
            </a:pPr>
            <a:r>
              <a:rPr sz="1600" dirty="0" err="1">
                <a:solidFill>
                  <a:srgbClr val="333333"/>
                </a:solidFill>
                <a:latin typeface="Calibri"/>
              </a:rPr>
              <a:t>Configurer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iptables avec NFLOG + ulogd2</a:t>
            </a:r>
          </a:p>
          <a:p>
            <a:pPr>
              <a:spcAft>
                <a:spcPts val="1000"/>
              </a:spcAft>
            </a:pPr>
            <a:r>
              <a:rPr sz="1600" dirty="0" err="1">
                <a:solidFill>
                  <a:srgbClr val="333333"/>
                </a:solidFill>
                <a:latin typeface="Calibri"/>
              </a:rPr>
              <a:t>Mettre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en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place la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chaine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de log complete</a:t>
            </a:r>
          </a:p>
          <a:p>
            <a:pPr>
              <a:spcAft>
                <a:spcPts val="1000"/>
              </a:spcAft>
            </a:pPr>
            <a:r>
              <a:rPr sz="1600" dirty="0" err="1">
                <a:solidFill>
                  <a:srgbClr val="333333"/>
                </a:solidFill>
                <a:latin typeface="Calibri"/>
              </a:rPr>
              <a:t>Ajouter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5 ports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supplementaires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(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analyse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cloud)</a:t>
            </a:r>
          </a:p>
          <a:p>
            <a:pPr>
              <a:spcAft>
                <a:spcPts val="1000"/>
              </a:spcAft>
            </a:pPr>
            <a:r>
              <a:rPr sz="1600" dirty="0" err="1">
                <a:solidFill>
                  <a:srgbClr val="333333"/>
                </a:solidFill>
                <a:latin typeface="Calibri"/>
              </a:rPr>
              <a:t>Generer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45 min de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trafic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licite</a:t>
            </a:r>
            <a:endParaRPr sz="160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600" dirty="0">
                <a:solidFill>
                  <a:srgbClr val="333333"/>
                </a:solidFill>
                <a:latin typeface="Calibri"/>
              </a:rPr>
              <a:t>Executer les 13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attaques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prescrites</a:t>
            </a:r>
            <a:endParaRPr sz="160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600" dirty="0" err="1">
                <a:solidFill>
                  <a:srgbClr val="333333"/>
                </a:solidFill>
                <a:latin typeface="Calibri"/>
              </a:rPr>
              <a:t>Synchroniser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vers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Aiven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(MariaDB cloud)</a:t>
            </a:r>
            <a:endParaRPr lang="fr-FR" sz="160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lang="fr-FR" sz="1600" dirty="0">
                <a:solidFill>
                  <a:srgbClr val="333333"/>
                </a:solidFill>
                <a:latin typeface="Calibri"/>
              </a:rPr>
              <a:t>Visualisation des données</a:t>
            </a:r>
            <a:endParaRPr sz="160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2. Analyse des logs firewall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Rapport d'analyse — 4,6M evenements (nov. 2025 - fev.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5B6"/>
                </a:solidFill>
                <a:latin typeface="Calibri"/>
              </a:defRPr>
            </a:pPr>
            <a:r>
              <a:t>Equipe 8 — OPSIE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10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E75B6"/>
                </a:solidFill>
                <a:latin typeface="Calibri"/>
              </a:defRPr>
            </a:pPr>
            <a:r>
              <a:t>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54864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Constats 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Politique polarisee : Regle 1 (PERMIT, 81.7%) + Regle 999 (DENY, 16.9%) = 98.6% du trafic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100% TCP — aucun evenement UDP dans les logs cloud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Top 5 regles TCP : Regle 1 (3.66M), 999 (756K), 7 (38K), 4 (33K), 8 (33K)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Regles quasi-inactives : 2, 5, 9, 11 (&lt; 8 000 hits sur 4 mois)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4864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Calibri"/>
              </a:defRPr>
            </a:pPr>
            <a:r>
              <a:t>Detection d'incidents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Spike massif 18-24 nov. 2025 : &gt;80 000 blocages/jour (baseline &lt; 10 000)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Attaque absorbee par Regle 999 : ports non standard cibles (pas SMB/Telnet)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Profil horaire : pics lundi soir -&gt; mercredi matin, 3h-4h UTC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Top 5 IPs agressives : activite 24h/24 = comportement automatise (botnets)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8E4E"/>
                </a:solidFill>
                <a:latin typeface="Calibri"/>
              </a:defRPr>
            </a:pPr>
            <a:r>
              <a:t>Rapprochement Regle x Port x Action (TCP)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Port 443 (HTTPS) : 3.62M PERMIT via Regle 1 — trafic principal autorise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Ports 23 (Telnet), 445 (SMB), 21 (FTP) : DENY dominant — cibles privilegiees des attaquants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Ports 8080, 3389, 110 : bloques par Regle 999 — bruit de fond Internet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Geo-localisation des sources : Asie du Sud-Est, Etats-Unis, Europe — signature botnet mondial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3. Architecture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Reseau 172.20.0.0/16 — 5 containers isoles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5B6"/>
                </a:solidFill>
                <a:latin typeface="Calibri"/>
              </a:defRPr>
            </a:pPr>
            <a:r>
              <a:t>Equipe 8 — OPSIE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10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E75B6"/>
                </a:solidFill>
                <a:latin typeface="Calibri"/>
              </a:defRPr>
            </a:pPr>
            <a:r>
              <a:t>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50292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493776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fw-cible  (172.20.0.2)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Firewall cible</a:t>
            </a:r>
            <a:br/>
            <a:r>
              <a:t>iptables + NFLOG + ulogd2</a:t>
            </a:r>
            <a:br/>
            <a:r>
              <a:t>Services: SSH, FTP, Telnet,</a:t>
            </a:r>
            <a:br/>
            <a:r>
              <a:t>HTTP, MySQL + 5 ports supp.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50292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429000"/>
            <a:ext cx="493776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447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fw-attaquant  (172.20.0.4)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Machine d'attaque</a:t>
            </a:r>
            <a:br/>
            <a:r>
              <a:t>nmap, hping3, hydra,</a:t>
            </a:r>
            <a:br/>
            <a:r>
              <a:t>nikto, gobuster</a:t>
            </a:r>
            <a:br/>
            <a:r>
              <a:t>Genere trafic licite &amp; illicite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463040"/>
            <a:ext cx="50292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46520" y="1508760"/>
            <a:ext cx="4937760" cy="411480"/>
          </a:xfrm>
          <a:prstGeom prst="rect">
            <a:avLst/>
          </a:prstGeom>
          <a:solidFill>
            <a:srgbClr val="2D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15270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challenge-syslog  (172.20.0.3)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6596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Serveur de logs</a:t>
            </a:r>
            <a:br/>
            <a:r>
              <a:t>syslog-ng (UDP 514)</a:t>
            </a:r>
            <a:br/>
            <a:r>
              <a:t>Parsing PCRE -&gt; CSV</a:t>
            </a:r>
            <a:br/>
            <a:r>
              <a:t>Insert MariaDB + Aiven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383280"/>
            <a:ext cx="50292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46520" y="3429000"/>
            <a:ext cx="493776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3447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challenge-mariadb  (172.20.0.10)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862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Base de donnees locale</a:t>
            </a:r>
            <a:br/>
            <a:r>
              <a:t>MariaDB 10.6.4</a:t>
            </a:r>
            <a:br/>
            <a:r>
              <a:t>DB: Logs_fw  Table: FW</a:t>
            </a:r>
            <a:br/>
            <a:r>
              <a:t>+ phpMyAdmin (172.20.0.11)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577840" y="2560320"/>
            <a:ext cx="731520" cy="45720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5B6"/>
                </a:solidFill>
                <a:latin typeface="Calibri"/>
              </a:defRPr>
            </a:pPr>
            <a:r>
              <a:t>UDP 514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4. Configuration Firewall iptables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NFLOG + rate limiting + admin bypass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5B6"/>
                </a:solidFill>
                <a:latin typeface="Calibri"/>
              </a:defRPr>
            </a:pPr>
            <a:r>
              <a:t>Equipe 8 — OPSIE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10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E75B6"/>
                </a:solidFill>
                <a:latin typeface="Calibri"/>
              </a:defRPr>
            </a:pPr>
            <a:r>
              <a:t>6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463040"/>
            <a:ext cx="640080" cy="2926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4630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463040"/>
            <a:ext cx="822960" cy="2926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57400" y="146304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Port(s)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463040"/>
            <a:ext cx="640080" cy="2926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14630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463040"/>
            <a:ext cx="822960" cy="2926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146304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463040"/>
            <a:ext cx="731520" cy="2926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14630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463040"/>
            <a:ext cx="4114800" cy="2926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74920" y="146304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1755648"/>
            <a:ext cx="64008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175564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1755648"/>
            <a:ext cx="82296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57400" y="175564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1755648"/>
            <a:ext cx="64008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0360" y="175564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TCP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1755648"/>
            <a:ext cx="82296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20440" y="175564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ACCEPT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1755648"/>
            <a:ext cx="73152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3400" y="17556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1755648"/>
            <a:ext cx="411480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4920" y="175564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SSH admin (172.20.0.1) sans log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2048256"/>
            <a:ext cx="640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17320" y="204825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2048256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57400" y="204825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2048256"/>
            <a:ext cx="640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80360" y="204825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TCP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048256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20440" y="204825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8E4E"/>
                </a:solidFill>
                <a:latin typeface="Calibri"/>
              </a:defRPr>
            </a:pPr>
            <a:r>
              <a:t>PERMIT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2048256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43400" y="20482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3/sec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2048256"/>
            <a:ext cx="4114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4920" y="204825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SSH (rate limited)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0" y="2340864"/>
            <a:ext cx="64008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417320" y="234086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2340864"/>
            <a:ext cx="82296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057400" y="234086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40" y="2340864"/>
            <a:ext cx="64008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880360" y="234086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TCP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2340864"/>
            <a:ext cx="82296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520440" y="234086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8E4E"/>
                </a:solidFill>
                <a:latin typeface="Calibri"/>
              </a:defRPr>
            </a:pPr>
            <a:r>
              <a:t>PERMIT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80" y="2340864"/>
            <a:ext cx="73152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43400" y="234086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2/sec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0" y="2340864"/>
            <a:ext cx="411480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74920" y="234086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Telnet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71600" y="2633472"/>
            <a:ext cx="640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417320" y="263347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11680" y="2633472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057400" y="263347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20-21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34640" y="2633472"/>
            <a:ext cx="640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880360" y="263347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TCP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0" y="2633472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520440" y="263347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8E4E"/>
                </a:solidFill>
                <a:latin typeface="Calibri"/>
              </a:defRPr>
            </a:pPr>
            <a:r>
              <a:t>PERMIT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97680" y="2633472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343400" y="263347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2/sec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0" y="2633472"/>
            <a:ext cx="4114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74920" y="263347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FTP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71600" y="2926080"/>
            <a:ext cx="64008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417320" y="29260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11680" y="2926080"/>
            <a:ext cx="82296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057400" y="2926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34640" y="2926080"/>
            <a:ext cx="64008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880360" y="29260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TCP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74720" y="2926080"/>
            <a:ext cx="82296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520440" y="2926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8E4E"/>
                </a:solidFill>
                <a:latin typeface="Calibri"/>
              </a:defRPr>
            </a:pPr>
            <a:r>
              <a:t>PERMIT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97680" y="2926080"/>
            <a:ext cx="73152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343400" y="29260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2/sec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0" y="2926080"/>
            <a:ext cx="411480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074920" y="292608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HTTP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71600" y="3218688"/>
            <a:ext cx="640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417320" y="321868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11680" y="3218688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057400" y="321868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3306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834640" y="3218688"/>
            <a:ext cx="640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880360" y="321868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TCP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0" y="3218688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520440" y="321868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8E4E"/>
                </a:solidFill>
                <a:latin typeface="Calibri"/>
              </a:defRPr>
            </a:pPr>
            <a:r>
              <a:t>PERMIT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297680" y="3218688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343400" y="32186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2/sec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0" y="3218688"/>
            <a:ext cx="4114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074920" y="321868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MySQL (127.0.0.1 only)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71600" y="3511296"/>
            <a:ext cx="64008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417320" y="351129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11680" y="3511296"/>
            <a:ext cx="82296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057400" y="351129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tous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834640" y="3511296"/>
            <a:ext cx="64008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880360" y="351129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UDP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474720" y="3511296"/>
            <a:ext cx="82296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520440" y="351129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8E4E"/>
                </a:solidFill>
                <a:latin typeface="Calibri"/>
              </a:defRPr>
            </a:pPr>
            <a:r>
              <a:t>PERMIT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97680" y="3511296"/>
            <a:ext cx="73152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343400" y="351129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2/sec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0" y="3511296"/>
            <a:ext cx="411480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074920" y="351129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Tous ports UDP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71600" y="3803904"/>
            <a:ext cx="640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417320" y="380390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011680" y="3803904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057400" y="380390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443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34640" y="3803904"/>
            <a:ext cx="640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880360" y="380390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TCP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474720" y="3803904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520440" y="380390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8E4E"/>
                </a:solidFill>
                <a:latin typeface="Calibri"/>
              </a:defRPr>
            </a:pPr>
            <a:r>
              <a:t>PERMIT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297680" y="3803904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343400" y="38039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2/sec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29200" y="3803904"/>
            <a:ext cx="4114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074920" y="380390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HTTPS (3.6M logs cloud)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71600" y="4096512"/>
            <a:ext cx="64008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417320" y="4096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011680" y="4096512"/>
            <a:ext cx="82296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057400" y="409651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445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834640" y="4096512"/>
            <a:ext cx="64008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880360" y="4096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TCP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474720" y="4096512"/>
            <a:ext cx="82296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520440" y="409651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8E4E"/>
                </a:solidFill>
                <a:latin typeface="Calibri"/>
              </a:defRPr>
            </a:pPr>
            <a:r>
              <a:t>PERMIT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297680" y="4096512"/>
            <a:ext cx="73152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343400" y="40965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2/sec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29200" y="4096512"/>
            <a:ext cx="411480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5074920" y="409651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SMB (20 301 occ.)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371600" y="4389120"/>
            <a:ext cx="640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417320" y="438912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011680" y="4389120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057400" y="438912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8080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834640" y="4389120"/>
            <a:ext cx="640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880360" y="438912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TCP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474720" y="4389120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520440" y="438912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8E4E"/>
                </a:solidFill>
                <a:latin typeface="Calibri"/>
              </a:defRPr>
            </a:pPr>
            <a:r>
              <a:t>PERMIT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297680" y="4389120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4343400" y="43891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2/sec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029200" y="4389120"/>
            <a:ext cx="4114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074920" y="43891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HTTP-alt (7 129 occ.)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371600" y="4681728"/>
            <a:ext cx="64008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417320" y="468172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011680" y="4681728"/>
            <a:ext cx="82296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2057400" y="468172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110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834640" y="4681728"/>
            <a:ext cx="64008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880360" y="468172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TCP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474720" y="4681728"/>
            <a:ext cx="82296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3520440" y="468172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8E4E"/>
                </a:solidFill>
                <a:latin typeface="Calibri"/>
              </a:defRPr>
            </a:pPr>
            <a:r>
              <a:t>PERMIT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297680" y="4681728"/>
            <a:ext cx="73152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4343400" y="468172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2/sec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029200" y="4681728"/>
            <a:ext cx="411480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5074920" y="468172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POP3 (5 910 occ.)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371600" y="4974336"/>
            <a:ext cx="640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417320" y="497433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011680" y="4974336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2057400" y="497433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3389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834640" y="4974336"/>
            <a:ext cx="640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2880360" y="497433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TCP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474720" y="4974336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3520440" y="497433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8E4E"/>
                </a:solidFill>
                <a:latin typeface="Calibri"/>
              </a:defRPr>
            </a:pPr>
            <a:r>
              <a:t>PERMIT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297680" y="4974336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4343400" y="497433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2/sec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029200" y="4974336"/>
            <a:ext cx="4114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5074920" y="497433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RDP (4 058 occ.)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371600" y="5266944"/>
            <a:ext cx="64008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1417320" y="526694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011680" y="5266944"/>
            <a:ext cx="82296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2057400" y="526694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autres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834640" y="5266944"/>
            <a:ext cx="64008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2880360" y="526694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TCP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474720" y="5266944"/>
            <a:ext cx="82296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3520440" y="526694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DENY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297680" y="5266944"/>
            <a:ext cx="73152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4343400" y="526694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1/sec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029200" y="5266944"/>
            <a:ext cx="411480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5074920" y="526694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Catch-all (ports non autorises)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457200" y="5486400"/>
            <a:ext cx="11247120" cy="64008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31520" y="5532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3A5C"/>
                </a:solidFill>
                <a:latin typeface="Calibri"/>
              </a:defRPr>
            </a:pPr>
            <a:r>
              <a:t>Les 5 ports supplementaires (RULE 10-14) ont ete identifies via l'analyse des logs cloud (top 5 TCP les plus utilises et absents de la config initiale).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5. Chaine de journalisation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Du paquet reseau a la base de donnees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5B6"/>
                </a:solidFill>
                <a:latin typeface="Calibri"/>
              </a:defRPr>
            </a:pPr>
            <a:r>
              <a:t>Equipe 8 — OPSIE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10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E75B6"/>
                </a:solidFill>
                <a:latin typeface="Calibri"/>
              </a:defRPr>
            </a:pPr>
            <a:r>
              <a:t>7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007" y="2103120"/>
            <a:ext cx="155448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447" y="2240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iptables</a:t>
            </a:r>
            <a:br/>
            <a:r>
              <a:t>(NFLOG)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Capture paquets</a:t>
            </a:r>
            <a:br/>
            <a:r>
              <a:t>via netfilter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090775" y="2560320"/>
            <a:ext cx="329184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438247" y="2103120"/>
            <a:ext cx="1554480" cy="13716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29687" y="2240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ulogd2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9687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Formate en</a:t>
            </a:r>
            <a:br/>
            <a:r>
              <a:t>log iptables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11015" y="2560320"/>
            <a:ext cx="329184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58487" y="2103120"/>
            <a:ext cx="1554480" cy="13716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49927" y="2240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rsyslog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9927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Forward</a:t>
            </a:r>
            <a:br/>
            <a:r>
              <a:t>UDP 514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31255" y="2560320"/>
            <a:ext cx="329184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78727" y="2103120"/>
            <a:ext cx="1554480" cy="1371600"/>
          </a:xfrm>
          <a:prstGeom prst="roundRect">
            <a:avLst/>
          </a:prstGeom>
          <a:solidFill>
            <a:srgbClr val="2D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0167" y="2240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syslog-ng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Parse PCRE</a:t>
            </a:r>
            <a:br/>
            <a:r>
              <a:t>+ CSV + SQL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51495" y="2560320"/>
            <a:ext cx="329184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98967" y="2103120"/>
            <a:ext cx="1554480" cy="13716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90407" y="2240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MariaDB</a:t>
            </a:r>
            <a:br/>
            <a:r>
              <a:t>(local)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407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Table FW</a:t>
            </a:r>
            <a:br/>
            <a:r>
              <a:t>Logs_fw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771735" y="2560320"/>
            <a:ext cx="329184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119207" y="2103120"/>
            <a:ext cx="1554480" cy="13716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10647" y="2240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Aiven</a:t>
            </a:r>
            <a:br/>
            <a:r>
              <a:t>(cloud)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10647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Sync temps</a:t>
            </a:r>
            <a:br/>
            <a:r>
              <a:t>reel Python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931920"/>
            <a:ext cx="11247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Parsing syslog-ng (regexp PCRE)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(?&lt;action&gt;PERMIT|DENY) RULE=(?&lt;policyid&gt;[0-9]+) ... SRC=(?&lt;ipsrc&gt;[0-9.]+) ... DST=(?&lt;ipdst&gt;[0-9.]+) ... PROTO=(?&lt;proto&gt;[A-Z0-9]+)(?:.*DPT=(?&lt;dport&gt;[0-9]+))?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Format CSV de sortie (firewall.log)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datetime;ipsrc;ipdst;proto;dport;policyid;action;iface_in;iface_out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onsolas"/>
              </a:defRPr>
            </a:pPr>
            <a:r>
              <a:t>Exemple : 2026-03-03 08:55:15;172.20.0.4;172.20.0.2;TCP;110;13;Permit;eth0;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6. Migration des regles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conf-iptable-rpb.txt + 5 ports supplementaires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5B6"/>
                </a:solidFill>
                <a:latin typeface="Calibri"/>
              </a:defRPr>
            </a:pPr>
            <a:r>
              <a:t>Equipe 8 — OPSIE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10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E75B6"/>
                </a:solidFill>
                <a:latin typeface="Calibri"/>
              </a:defRPr>
            </a:pPr>
            <a:r>
              <a:t>8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53035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Regles originales (conf-iptable-rpb.txt)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RULE 1 : </a:t>
            </a:r>
            <a:r>
              <a:rPr sz="1500">
                <a:solidFill>
                  <a:srgbClr val="333333"/>
                </a:solidFill>
                <a:latin typeface="Calibri"/>
              </a:rPr>
              <a:t>SSH (port 22)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RULE 2 : </a:t>
            </a:r>
            <a:r>
              <a:rPr sz="1500">
                <a:solidFill>
                  <a:srgbClr val="333333"/>
                </a:solidFill>
                <a:latin typeface="Calibri"/>
              </a:rPr>
              <a:t>Telnet (port 23)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RULE 3 : </a:t>
            </a:r>
            <a:r>
              <a:rPr sz="1500">
                <a:solidFill>
                  <a:srgbClr val="333333"/>
                </a:solidFill>
                <a:latin typeface="Calibri"/>
              </a:rPr>
              <a:t>FTP (ports 20-21)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RULE 4 : </a:t>
            </a:r>
            <a:r>
              <a:rPr sz="1500">
                <a:solidFill>
                  <a:srgbClr val="333333"/>
                </a:solidFill>
                <a:latin typeface="Calibri"/>
              </a:rPr>
              <a:t>HTTP (port 80)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RULE 5 : </a:t>
            </a:r>
            <a:r>
              <a:rPr sz="1500">
                <a:solidFill>
                  <a:srgbClr val="333333"/>
                </a:solidFill>
                <a:latin typeface="Calibri"/>
              </a:rPr>
              <a:t>MySQL (port 3306, local)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RULE 6 : </a:t>
            </a:r>
            <a:r>
              <a:rPr sz="1500">
                <a:solidFill>
                  <a:srgbClr val="333333"/>
                </a:solidFill>
                <a:latin typeface="Calibri"/>
              </a:rPr>
              <a:t>UDP (tous ports)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RULE 34 : </a:t>
            </a:r>
            <a:r>
              <a:rPr sz="1500">
                <a:solidFill>
                  <a:srgbClr val="333333"/>
                </a:solidFill>
                <a:latin typeface="Calibri"/>
              </a:rPr>
              <a:t>DENY catch-all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2160" y="3200400"/>
            <a:ext cx="731520" cy="45720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766560" y="1463040"/>
            <a:ext cx="49377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8E4E"/>
                </a:solidFill>
                <a:latin typeface="Calibri"/>
              </a:defRPr>
            </a:pPr>
            <a:r>
              <a:t>5 ports ajoutes (analyse logs cloud)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10312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RULE 10 : </a:t>
            </a:r>
            <a:r>
              <a:rPr sz="1500">
                <a:solidFill>
                  <a:srgbClr val="333333"/>
                </a:solidFill>
                <a:latin typeface="Calibri"/>
              </a:rPr>
              <a:t>HTTPS 443 (3.6M occurrences)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RULE 11 : </a:t>
            </a:r>
            <a:r>
              <a:rPr sz="1500">
                <a:solidFill>
                  <a:srgbClr val="333333"/>
                </a:solidFill>
                <a:latin typeface="Calibri"/>
              </a:rPr>
              <a:t>SMB 445 (20 301 occ.)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RULE 12 : </a:t>
            </a:r>
            <a:r>
              <a:rPr sz="1500">
                <a:solidFill>
                  <a:srgbClr val="333333"/>
                </a:solidFill>
                <a:latin typeface="Calibri"/>
              </a:rPr>
              <a:t>HTTP-alt 8080 (7 129 occ.)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RULE 13 : </a:t>
            </a:r>
            <a:r>
              <a:rPr sz="1500">
                <a:solidFill>
                  <a:srgbClr val="333333"/>
                </a:solidFill>
                <a:latin typeface="Calibri"/>
              </a:rPr>
              <a:t>POP3 110 (5 910 occ.)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RULE 14 : </a:t>
            </a:r>
            <a:r>
              <a:rPr sz="1500">
                <a:solidFill>
                  <a:srgbClr val="333333"/>
                </a:solidFill>
                <a:latin typeface="Calibri"/>
              </a:rPr>
              <a:t>RDP 3389 (4 058 occ.)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Ports ouverts via ncat (listeners)</a:t>
            </a:r>
            <a:br/>
            <a:r>
              <a:t>+ mise a jour du DENY catch-all</a:t>
            </a:r>
            <a:br/>
            <a:r>
              <a:t>(exclusion des 5 nouveaux ports)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760720"/>
            <a:ext cx="11247120" cy="54864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3A5C"/>
                </a:solidFill>
                <a:latin typeface="Calibri"/>
              </a:defRPr>
            </a:pPr>
            <a:r>
              <a:t>Securite : Admin SSH sans restriction (ACCEPT) | Non-admin : limite 30 cnx/h (connlimit + rate limit) | Rate limiting sur toutes les regles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7. Trafic licite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45 minutes de connexions legitimes — 5 workers paralleles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5B6"/>
                </a:solidFill>
                <a:latin typeface="Calibri"/>
              </a:defRPr>
            </a:pPr>
            <a:r>
              <a:t>Equipe 8 — OPSIE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10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E75B6"/>
                </a:solidFill>
                <a:latin typeface="Calibri"/>
              </a:defRPr>
            </a:pPr>
            <a:r>
              <a:t>9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36576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1 scan TCP complet (1-65535)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5 workers paralleles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Decalage initial de 2s chacun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20 actions en ordre aleatoire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Delai 0.1-0.9s entre actions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Boucle pendant 45 min (2700s)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73152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8E4E"/>
                </a:solidFill>
                <a:latin typeface="Calibri"/>
              </a:defRPr>
            </a:pPr>
            <a:r>
              <a:t>20 actions licites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HTTP GET / (index)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HTTP GET /Backup/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HTTP GET /Restore/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FTP anonymous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SSH knock (port 22)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Telnet knock (port 23)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HTTPS (port 443)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01168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SMB (port 445)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HTTP-alt (port 8080)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POP3 (port 110)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RDP (port 3389)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HTTP flood (60 req.)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Multiport burst (7 ports)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+  variantes repetees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89120"/>
            <a:ext cx="3657600" cy="1737360"/>
          </a:xfrm>
          <a:prstGeom prst="roundRect">
            <a:avLst/>
          </a:prstGeom>
          <a:solidFill>
            <a:srgbClr val="2D8E4E"/>
          </a:solidFill>
          <a:ln w="19050">
            <a:solidFill>
              <a:srgbClr val="2D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Resultat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~24 000 lignes de logs</a:t>
            </a:r>
            <a:br/>
            <a:r>
              <a:t>Trafic diversifie et realiste</a:t>
            </a:r>
            <a:br/>
            <a:r>
              <a:t>Couvre toutes les regles PERMIT</a:t>
            </a:r>
            <a:br/>
            <a:r>
              <a:t>(RULE 1-6, 10-14)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8a. Trafic illicite — Reconnaissance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Actions 1 a 6 : scans et evasion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5B6"/>
                </a:solidFill>
                <a:latin typeface="Calibri"/>
              </a:defRPr>
            </a:pPr>
            <a:r>
              <a:t>Equipe 8 — OPSIE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10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E75B6"/>
                </a:solidFill>
                <a:latin typeface="Calibri"/>
              </a:defRPr>
            </a:pPr>
            <a:r>
              <a:t>10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00584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463040"/>
            <a:ext cx="274320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63040"/>
            <a:ext cx="365760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1463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Commande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463040"/>
            <a:ext cx="320040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Impact 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100584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1874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1828800"/>
            <a:ext cx="274320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1874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Decoy scan (10 IPs fixes)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828800"/>
            <a:ext cx="365760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1960" y="18745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nmap -sS -T2 -D 10.0.0.1,192.168.4.1,...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1828800"/>
            <a:ext cx="320040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9560" y="1874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DENY RULE=34 avec SRC multiples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77440"/>
            <a:ext cx="1005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2423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2377440"/>
            <a:ext cx="2743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08760" y="2423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Decoy scan (10 IPs aleatoires)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377440"/>
            <a:ext cx="3657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51960" y="2423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nmap -sS -T2 -D RND:10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237744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09560" y="2423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Nouvelles IPs a chaque execution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926080"/>
            <a:ext cx="100584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2971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3a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2926080"/>
            <a:ext cx="274320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08760" y="2971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Scan fragmente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2926080"/>
            <a:ext cx="365760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51960" y="29718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nmap -sS -f -p 1-1024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2926080"/>
            <a:ext cx="320040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09560" y="2971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Evasion IDS par fragmentation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474720"/>
            <a:ext cx="1005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3520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3b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63040" y="3474720"/>
            <a:ext cx="2743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508760" y="3520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Scan ACK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474720"/>
            <a:ext cx="3657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51960" y="3520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nmap -sA -p 22,80,443,23,21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347472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09560" y="3520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Mapping topology firewall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023360"/>
            <a:ext cx="100584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4069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63040" y="4023360"/>
            <a:ext cx="274320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508760" y="4069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Idle scan (zombie)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6240" y="4023360"/>
            <a:ext cx="365760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51960" y="40690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nmap -sI 172.20.0.10 -p 80,443,22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63840" y="4023360"/>
            <a:ext cx="320040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0956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SRC = IP zombie (MariaDB)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572000"/>
            <a:ext cx="1005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" y="4617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63040" y="4572000"/>
            <a:ext cx="2743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508760" y="4617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Decoy universite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0" y="4572000"/>
            <a:ext cx="3657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51960" y="4617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nmap -sS -D 159.84.x.y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63840" y="457200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909560" y="4617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Faux positif reseau univ.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5120640"/>
            <a:ext cx="100584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2920" y="5166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63040" y="5120640"/>
            <a:ext cx="274320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508760" y="5166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IP spoofing (hping3)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5120640"/>
            <a:ext cx="365760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251960" y="5166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hping3 -S -a 159.84.146.1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63840" y="5120640"/>
            <a:ext cx="320040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909560" y="5166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Attaquant invisible dans logs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8b. Trafic illicite — Exploitation &amp; DDoS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Actions 7 a 13 : brute force, enumeration, floods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5B6"/>
                </a:solidFill>
                <a:latin typeface="Calibri"/>
              </a:defRPr>
            </a:pPr>
            <a:r>
              <a:t>Equipe 8 — OPSIE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10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E75B6"/>
                </a:solidFill>
                <a:latin typeface="Calibri"/>
              </a:defRPr>
            </a:pPr>
            <a:r>
              <a:t>11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00584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463040"/>
            <a:ext cx="274320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63040"/>
            <a:ext cx="365760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1463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Commande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463040"/>
            <a:ext cx="320040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Impact 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100584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18745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1828800"/>
            <a:ext cx="274320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18745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Brute force FTP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828800"/>
            <a:ext cx="365760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1960" y="18745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hydra -l anonymous -P dico.txt ftp://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1828800"/>
            <a:ext cx="320040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9560" y="1874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10 000 tentatives, PERMIT RULE=3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3172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23774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233172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0876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Gobuster (enum. dirs)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33172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51960" y="23774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gobuster dir -w small.txt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233172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09560" y="2377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Enum HTTP, PERMIT RULE=4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834640"/>
            <a:ext cx="100584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28803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2834640"/>
            <a:ext cx="274320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08760" y="2880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Nikto (vuln. web)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2834640"/>
            <a:ext cx="365760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51960" y="2880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nikto -h http://cible -maxtime 30s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2834640"/>
            <a:ext cx="320040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0956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1000+ tests, PERMIT RULE=4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33756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33832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63040" y="333756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508760" y="3383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Slow scan (evasion)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33756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51960" y="33832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nmap --top-ports 100 --scan-delay 1s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333756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09560" y="3383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Evade rate-based IDS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840480"/>
            <a:ext cx="100584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3886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63040" y="3840480"/>
            <a:ext cx="274320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508760" y="3886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Scripts NSE (HTTP/FTP/SSH)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6240" y="3840480"/>
            <a:ext cx="365760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51960" y="38862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nmap -sV --script http-enum,...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63840" y="3840480"/>
            <a:ext cx="320040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09560" y="3886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Fingerprinting services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34340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" y="43891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13a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63040" y="43434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508760" y="4389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SYN flood (port 80)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0" y="434340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51960" y="43891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hping3 -S --flood -p 80 (15s)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63840" y="434340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909560" y="43891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Milliers SYN/s, DENY RULE=34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846320"/>
            <a:ext cx="100584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2920" y="48920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13b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63040" y="4846320"/>
            <a:ext cx="274320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508760" y="4892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UDP flood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4846320"/>
            <a:ext cx="365760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251960" y="48920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hping3 --udp -p 53 --count 150000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63840" y="4846320"/>
            <a:ext cx="320040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909560" y="4892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~225 MB trafic, PERMIT RULE=6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34924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2920" y="53949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 13c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463040" y="534924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508760" y="5394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SYN flood (port 443)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534924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251960" y="5394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hping3 -S --flood -p 443 (30s)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863840" y="534924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09560" y="5394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Fallback si pas Metasploit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7200" y="5669280"/>
            <a:ext cx="11247120" cy="54864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392B"/>
                </a:solidFill>
                <a:latin typeface="Calibri"/>
              </a:defRPr>
            </a:pPr>
            <a:r>
              <a:t>Les actions DDoS (13a-c) generent un volume massif de logs en quelques secondes — signature tres visible dans l'analyse temporelle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10. Resultats &amp; Logs generes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D5"/>
                </a:solidFill>
                <a:latin typeface="Calibri"/>
              </a:defRPr>
            </a:pPr>
            <a:r>
              <a:t>24 391 lignes de logs — du 2 au 3 mars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5B6"/>
                </a:solidFill>
                <a:latin typeface="Calibri"/>
              </a:defRPr>
            </a:pPr>
            <a:r>
              <a:t>Equipe 8 — OPSIE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10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E75B6"/>
                </a:solidFill>
                <a:latin typeface="Calibri"/>
              </a:defRPr>
            </a:pPr>
            <a:r>
              <a:t>13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2651760" cy="1645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24 391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lignes de logs</a:t>
            </a:r>
            <a:br/>
            <a:r>
              <a:t>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554480"/>
            <a:ext cx="2651760" cy="1645920"/>
          </a:xfrm>
          <a:prstGeom prst="roundRect">
            <a:avLst/>
          </a:prstGeom>
          <a:solidFill>
            <a:srgbClr val="2D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7373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~96%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68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dirty="0"/>
              <a:t>PERMIT</a:t>
            </a:r>
            <a:br>
              <a:rPr dirty="0"/>
            </a:br>
            <a:r>
              <a:rPr dirty="0"/>
              <a:t>(</a:t>
            </a:r>
            <a:r>
              <a:rPr dirty="0" err="1"/>
              <a:t>trafic</a:t>
            </a:r>
            <a:r>
              <a:rPr dirty="0"/>
              <a:t> </a:t>
            </a:r>
            <a:r>
              <a:rPr dirty="0" err="1"/>
              <a:t>licite</a:t>
            </a:r>
            <a:r>
              <a:rPr dirty="0"/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417320"/>
            <a:ext cx="2651760" cy="1645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1600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~4%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3317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dirty="0"/>
              <a:t>DENY</a:t>
            </a:r>
            <a:br>
              <a:rPr dirty="0"/>
            </a:br>
            <a:r>
              <a:rPr dirty="0"/>
              <a:t>(</a:t>
            </a:r>
            <a:r>
              <a:rPr dirty="0" err="1"/>
              <a:t>trafic</a:t>
            </a:r>
            <a:r>
              <a:rPr dirty="0"/>
              <a:t> </a:t>
            </a:r>
            <a:r>
              <a:rPr dirty="0" err="1"/>
              <a:t>illicite</a:t>
            </a:r>
            <a:r>
              <a:rPr dirty="0"/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112471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Distribution par regle (estimation)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RULE 4  (HTTP/80)     : </a:t>
            </a:r>
            <a:r>
              <a:rPr sz="1300">
                <a:solidFill>
                  <a:srgbClr val="333333"/>
                </a:solidFill>
                <a:latin typeface="Calibri"/>
              </a:rPr>
              <a:t>~4 000+ entrees — trafic web + Gobuster + Nikto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RULE 10 (HTTPS/443)  : </a:t>
            </a:r>
            <a:r>
              <a:rPr sz="1300">
                <a:solidFill>
                  <a:srgbClr val="333333"/>
                </a:solidFill>
                <a:latin typeface="Calibri"/>
              </a:rPr>
              <a:t>~3 400 entrees — connexions HTTPS + scans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RULE 3  (FTP/21)       : </a:t>
            </a:r>
            <a:r>
              <a:rPr sz="1300">
                <a:solidFill>
                  <a:srgbClr val="333333"/>
                </a:solidFill>
                <a:latin typeface="Calibri"/>
              </a:rPr>
              <a:t>~1 400 entrees — FTP licite + brute force Hydra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RULE 1  (SSH/22)       : </a:t>
            </a:r>
            <a:r>
              <a:rPr sz="1300">
                <a:solidFill>
                  <a:srgbClr val="333333"/>
                </a:solidFill>
                <a:latin typeface="Calibri"/>
              </a:rPr>
              <a:t>connexions SSH licites + scripts NSE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RULE 34 (DENY)         : </a:t>
            </a:r>
            <a:r>
              <a:rPr sz="1300">
                <a:solidFill>
                  <a:srgbClr val="333333"/>
                </a:solidFill>
                <a:latin typeface="Calibri"/>
              </a:rPr>
              <a:t>scans nmap decoy/idle + SYN floods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RULE 6  (UDP)           : </a:t>
            </a:r>
            <a:r>
              <a:rPr sz="1300">
                <a:solidFill>
                  <a:srgbClr val="333333"/>
                </a:solidFill>
                <a:latin typeface="Calibri"/>
              </a:rPr>
              <a:t>~75 entrees — UDP flood hping3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RULE 11-14               : </a:t>
            </a:r>
            <a:r>
              <a:rPr sz="1300">
                <a:solidFill>
                  <a:srgbClr val="333333"/>
                </a:solidFill>
                <a:latin typeface="Calibri"/>
              </a:rPr>
              <a:t>trafic vers SMB, HTTP-alt, POP3, RDP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lang="fr-FR" dirty="0"/>
              <a:t>DEMO WEB APP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5B6"/>
                </a:solidFill>
                <a:latin typeface="Calibri"/>
              </a:defRPr>
            </a:pPr>
            <a:r>
              <a:t>Equipe 8 — OPSIE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10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E75B6"/>
                </a:solidFill>
                <a:latin typeface="Calibri"/>
              </a:defRPr>
            </a:pPr>
            <a:r>
              <a:t>15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6026" y="3257426"/>
            <a:ext cx="109039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8E4E"/>
                </a:solidFill>
                <a:latin typeface="Calibri"/>
              </a:defRPr>
            </a:pPr>
            <a:r>
              <a:rPr lang="fr-FR" sz="4000" dirty="0"/>
              <a:t>DEMO</a:t>
            </a:r>
            <a:endParaRPr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6A849-A708-A5B8-006E-121524ECF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5B9EAA-8DE3-E464-E166-4D01DDFA9CEA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6D74A-8B61-687E-49F3-C9DFC8F6F642}"/>
              </a:ext>
            </a:extLst>
          </p:cNvPr>
          <p:cNvSpPr txBox="1"/>
          <p:nvPr/>
        </p:nvSpPr>
        <p:spPr>
          <a:xfrm>
            <a:off x="548640" y="13716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lang="fr-FR" dirty="0"/>
              <a:t>DEMO WEB APP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0E013B-544D-5F02-1E4D-A26FF230CD5E}"/>
              </a:ext>
            </a:extLst>
          </p:cNvPr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3D91AA-855A-1DC5-0B42-D99233E0232C}"/>
              </a:ext>
            </a:extLst>
          </p:cNvPr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4D09B-C2D5-8D2F-61C0-F5F7B1A017EC}"/>
              </a:ext>
            </a:extLst>
          </p:cNvPr>
          <p:cNvSpPr txBox="1"/>
          <p:nvPr/>
        </p:nvSpPr>
        <p:spPr>
          <a:xfrm>
            <a:off x="36576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5B6"/>
                </a:solidFill>
                <a:latin typeface="Calibri"/>
              </a:defRPr>
            </a:pPr>
            <a:r>
              <a:t>Equipe 8 — OPSIE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1FDA2-A9B9-BA72-3D69-9BD11FAD42B8}"/>
              </a:ext>
            </a:extLst>
          </p:cNvPr>
          <p:cNvSpPr txBox="1"/>
          <p:nvPr/>
        </p:nvSpPr>
        <p:spPr>
          <a:xfrm>
            <a:off x="10362895" y="6510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E75B6"/>
                </a:solidFill>
                <a:latin typeface="Calibri"/>
              </a:defRPr>
            </a:pPr>
            <a:r>
              <a:t>15 / 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B73663-03ED-1FB7-8DFF-D442DBECFE18}"/>
              </a:ext>
            </a:extLst>
          </p:cNvPr>
          <p:cNvSpPr txBox="1"/>
          <p:nvPr/>
        </p:nvSpPr>
        <p:spPr>
          <a:xfrm>
            <a:off x="526026" y="3257426"/>
            <a:ext cx="109039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8E4E"/>
                </a:solidFill>
                <a:latin typeface="Calibri"/>
              </a:defRPr>
            </a:pPr>
            <a:r>
              <a:rPr lang="fr-FR" sz="4000" dirty="0"/>
              <a:t>Merci pour votre attention </a:t>
            </a:r>
          </a:p>
          <a:p>
            <a:pPr algn="ctr">
              <a:defRPr sz="2000" b="1">
                <a:solidFill>
                  <a:srgbClr val="2D8E4E"/>
                </a:solidFill>
                <a:latin typeface="Calibri"/>
              </a:defRPr>
            </a:pPr>
            <a:r>
              <a:rPr lang="fr-FR" sz="4000" dirty="0"/>
              <a:t>Des questions ?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422795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1885</Words>
  <Application>Microsoft Office PowerPoint</Application>
  <PresentationFormat>Grand écran</PresentationFormat>
  <Paragraphs>331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Romain_admin</dc:creator>
  <cp:keywords/>
  <dc:description>generated using python-pptx</dc:description>
  <cp:lastModifiedBy>BUONO Romain</cp:lastModifiedBy>
  <cp:revision>7</cp:revision>
  <dcterms:created xsi:type="dcterms:W3CDTF">2013-01-27T09:14:16Z</dcterms:created>
  <dcterms:modified xsi:type="dcterms:W3CDTF">2026-03-03T10:25:08Z</dcterms:modified>
  <cp:category/>
</cp:coreProperties>
</file>